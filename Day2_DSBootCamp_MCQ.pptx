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3" r:id="rId25"/>
    <p:sldId id="284" r:id="rId26"/>
    <p:sldId id="279" r:id="rId27"/>
    <p:sldId id="280" r:id="rId28"/>
    <p:sldId id="281" r:id="rId29"/>
    <p:sldId id="282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38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349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8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NumPy &amp; Pandas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Essential Data Analysis Libraries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3474720"/>
            <a:ext cx="2743200" cy="73152"/>
          </a:xfrm>
          <a:prstGeom prst="rect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F0FE"/>
                </a:solidFill>
              </a:rPr>
              <a:t>Google Developers Group - Data Science Bootcamp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Why NumPy &amp; Pandas?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solidFill>
            <a:srgbClr val="0132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NumPy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✓ Fast numerical operations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✓ Powerful array operations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✓ Foundation for scientific computing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✓ Memory efficient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188720"/>
            <a:ext cx="3931920" cy="548640"/>
          </a:xfrm>
          <a:prstGeom prst="rect">
            <a:avLst/>
          </a:prstGeom>
          <a:solidFill>
            <a:srgbClr val="150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Pandas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749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✓ Easy data manipulation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7492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✓ Built on NumPy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7492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✓ Handles structured data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7492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✓ Excel-like functionality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285F4"/>
                </a:solidFill>
              </a:rPr>
              <a:t>Together, they form the backbone of data science in Python!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NumPy: Creating Arrays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30175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list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Zeros array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zeros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zeros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 array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range_arr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arange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Random array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76072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3243"/>
                </a:solidFill>
              </a:rPr>
              <a:t>Common Methods: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760720" y="16916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32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np.ones()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189280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Array of ones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0" y="21488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32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np.eye()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235000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Identity matrix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2606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32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np.linspace()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280720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Evenly spaced values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30632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32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np.full()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326440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Fill with value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35204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32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np.empty()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372160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Uninitialized array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NumPy: Array Operations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30175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Mathematical operations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   </a:t>
            </a: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to all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   </a:t>
            </a: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Multiply all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  </a:t>
            </a: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Square all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Statistical operations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# </a:t>
            </a: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# </a:t>
            </a: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# </a:t>
            </a: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# </a:t>
            </a: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 deviation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76072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3243"/>
                </a:solidFill>
              </a:rPr>
              <a:t>Key Features: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760720" y="164592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</a:rPr>
              <a:t>Vectorized Operations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No loops needed - faster!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</a:rPr>
              <a:t>Broadcasting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Operations on different shapes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</a:rPr>
              <a:t>Universal Functions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sin, cos, exp, log, etc.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NumPy: Indexing &amp; Slicing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30175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 element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      # </a:t>
            </a: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Slicing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    # [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20, 30, 40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arr[: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    # [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10, 30, 50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Boolean indexing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arr[arr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# [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30, 40, 50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2D array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arr2d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([[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arr2d[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  #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76072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3243"/>
                </a:solidFill>
              </a:rPr>
              <a:t>Slicing Syntax: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60720" y="1645920"/>
            <a:ext cx="2926080" cy="457200"/>
          </a:xfrm>
          <a:prstGeom prst="rect">
            <a:avLst/>
          </a:prstGeom>
          <a:solidFill>
            <a:srgbClr val="0132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array[start:stop:step]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60720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85F4"/>
                </a:solidFill>
              </a:rPr>
              <a:t>Examples: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60720" y="26517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32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arr[:]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40880" y="2651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All elements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2971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32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arr[2:]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2971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From index 2 to 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32918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32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arr[:3]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0" y="3291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First 3 elements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3611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32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arr[-1]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0" y="36118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Last element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39319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32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arr[::-1]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3931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Reverse array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</a:rPr>
              <a:t>NumPy: Reshaping &amp; Stacking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0175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Reshape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arange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reshape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Flatten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</a:t>
            </a:r>
            <a:r>
              <a:rPr lang="en-US" sz="1200" dirty="0" err="1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flatten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Transpose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</a:t>
            </a:r>
            <a:r>
              <a:rPr lang="en-US" sz="12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Stack arrays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vstack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hstack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3243"/>
                </a:solidFill>
              </a:rPr>
              <a:t>Operations: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937760" y="1691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32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reshape()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1691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Change dimensions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32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flatten()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2011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Convert to 1D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331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32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ravel()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2331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Flatten (view)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651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32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651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Transpose matrix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971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32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vstack()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2971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Stack vertically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291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32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hstack()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3291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Stack horizontally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6118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32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concatenate()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3611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Join arrays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931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32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3931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Split array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04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Introduction to Pandas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8E0FF"/>
                </a:solidFill>
              </a:rPr>
              <a:t>Python Data Analysis Library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54480" y="30632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0458"/>
                </a:solidFill>
              </a:rPr>
              <a:t>Two Core Data Structures: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342900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Series</a:t>
            </a:r>
            <a:r>
              <a:rPr lang="en-US" sz="1600" dirty="0">
                <a:solidFill>
                  <a:srgbClr val="1E293B"/>
                </a:solidFill>
              </a:rPr>
              <a:t>: 1-dimensional labeled array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DataFrame</a:t>
            </a:r>
            <a:r>
              <a:rPr lang="en-US" sz="1600" dirty="0">
                <a:solidFill>
                  <a:srgbClr val="1E293B"/>
                </a:solidFill>
              </a:rPr>
              <a:t>: 2-dimensional labeled table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Pandas: Series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30175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list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</a:t>
            </a: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Series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custom index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200" dirty="0" err="1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</a:t>
            </a:r>
            <a:r>
              <a:rPr lang="en-US" sz="1200" dirty="0" err="1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Series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=[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dictionary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{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</a:t>
            </a: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Series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6072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0458"/>
                </a:solidFill>
              </a:rPr>
              <a:t>Series Operations: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60720" y="1691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s[0]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23760" y="16916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Access by position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0" y="2011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s['a']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23760" y="20116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Access by label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s.values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23760" y="23317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Get values array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0" y="2651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s.index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23760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Get index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0" y="2971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s.mean()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23760" y="29718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Calculate mean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3291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s.sum()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23760" y="32918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Sum all values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3611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s.unique()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23760" y="36118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Unique values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3931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s.value_counts()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23760" y="3931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Count occurrences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Pandas: DataFrame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30175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dictionary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{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'Alice'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'Bob'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'City'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'NYC'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'LA'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</a:t>
            </a: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View 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 # </a:t>
            </a: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5 rows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 # </a:t>
            </a: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types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# </a:t>
            </a: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6072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0458"/>
                </a:solidFill>
              </a:rPr>
              <a:t>Key Attributes: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60720" y="1691640"/>
            <a:ext cx="292608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0" y="1737360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0" y="187452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(rows, columns)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0" y="2103120"/>
            <a:ext cx="292608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52160" y="2148840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228600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Column names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2514600"/>
            <a:ext cx="292608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52160" y="2560320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df.index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269748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Row labels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2926080"/>
            <a:ext cx="292608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971800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df.dtypes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0" y="310896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Data types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3337560"/>
            <a:ext cx="292608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0" y="3383280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df.values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352044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NumPy array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3749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285F4"/>
                </a:solidFill>
              </a:rPr>
              <a:t>Think of DataFrame as Excel in Python!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</a:rPr>
              <a:t>Pandas: Reading &amp; Writing Data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0175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CSV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'data.csv'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Write CSV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to_csv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'output.csv'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Excel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read_excel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'data.xlsx'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JSON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read_json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200" dirty="0" err="1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data.json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SQL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read_sql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0458"/>
                </a:solidFill>
              </a:rPr>
              <a:t>Supported Formats: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937760" y="16916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0458"/>
                </a:solidFill>
              </a:rPr>
              <a:t>CSV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6916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0" y="16916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to_csv()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20848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0458"/>
                </a:solidFill>
              </a:rPr>
              <a:t>Excel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208483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read_excel()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20848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to_excel()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47802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0458"/>
                </a:solidFill>
              </a:rPr>
              <a:t>JSON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247802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read_json()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247802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to_json()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87121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0458"/>
                </a:solidFill>
              </a:rPr>
              <a:t>HTML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28712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read_html()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0" y="287121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to_html()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2644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0458"/>
                </a:solidFill>
              </a:rPr>
              <a:t>SQL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0" y="32644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read_sql()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0" y="326440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to_sql()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657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0458"/>
                </a:solidFill>
              </a:rPr>
              <a:t>Parquet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0" y="36576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read_parquet()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0" y="3657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to_parquet()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40507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0458"/>
                </a:solidFill>
              </a:rPr>
              <a:t>HDF5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0" y="40507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read_hdf()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405079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to_hdf()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</a:rPr>
              <a:t>DataFrame: Selection &amp; Indexing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30175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Select column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    # </a:t>
            </a: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df[[</a:t>
            </a: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  # </a:t>
            </a:r>
            <a:r>
              <a:rPr lang="en-US" sz="1300" dirty="0" err="1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 - label based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       # </a:t>
            </a: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by index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# </a:t>
            </a: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Specific cell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iloc - position based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      # </a:t>
            </a: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row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   # </a:t>
            </a: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0, Col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Boolean indexing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</a:t>
            </a: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</a:t>
            </a: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76072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0458"/>
                </a:solidFill>
              </a:rPr>
              <a:t>Selection Methods: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60720" y="1691640"/>
            <a:ext cx="29260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0" y="1737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Column selection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193852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Quick access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60720" y="2194560"/>
            <a:ext cx="29260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2160" y="22402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loc[]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2402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Label-based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244144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Named indices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0" y="2697480"/>
            <a:ext cx="29260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0" y="27432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iloc[]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2743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Position-based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294436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Numeric position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3200400"/>
            <a:ext cx="29260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0" y="32461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at[]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3246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Single value (label)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34472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Fast scalar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0" y="3703320"/>
            <a:ext cx="292608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52160" y="3749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iat[]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3749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Single value (position)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52160" y="39502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Fast scalar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DataFrame: Filtering Data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30175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 condition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conditions (AND)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df[(df[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&amp;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&lt; 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conditions (OR)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df[(df[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'City'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'NYC'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|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'City'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'LA'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isin() for multiple values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'City'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isin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'NYC'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'LA'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String methods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0458"/>
                </a:solidFill>
              </a:rPr>
              <a:t>Filter Operators: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60720" y="1645920"/>
            <a:ext cx="29260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0" y="17830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17830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23760" y="17830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0" y="17830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22402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240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NOT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23760" y="22402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80960" y="2240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Equal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2160" y="26974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6974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Not equal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23760" y="26974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0" y="26974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Greater than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0" y="34747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4335"/>
                </a:solidFill>
              </a:rPr>
              <a:t>Important: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60720" y="3749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Use &amp; and | (not 'and'/'or') with parentheses!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</a:rPr>
              <a:t>DataFrame: Adding &amp; Removing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0175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column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'Salary'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[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60000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computed column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'Bonus'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'Salary'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* 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Drop column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'Bonus'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axis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Drop rows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Rename columns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rename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'Full_Name'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846320" y="1097280"/>
            <a:ext cx="3840480" cy="352972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0458"/>
                </a:solidFill>
              </a:rPr>
              <a:t>Operations: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1691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insert()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49440" y="1691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Add column at position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0" y="2011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Add multiple columns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2331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0" y="2331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Remove rows/columns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2651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drop_duplicates()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0" y="2651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Remove duplicate rows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971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rename()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0" y="2971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Rename columns/index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3291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reset_index()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3291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Reset index to default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3611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set_index()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36118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Set column as index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3931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sort_values()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3931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Sort by column values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4251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sort_index()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4251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Sort by index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Pandas: GroupBy Operations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30175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Group by single column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'City'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)[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aggregations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'City'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'mean'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'max'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'Salary'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'sum'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Group by multiple columns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'City'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'Department'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Apply custom function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'City'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x: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72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0458"/>
                </a:solidFill>
              </a:rPr>
              <a:t>Aggregation Functions: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60720" y="1691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mean()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0" y="1691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sum()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2057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count()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23760" y="2057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min()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max()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376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std()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2788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var()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23760" y="2788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median()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first()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2376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last()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0" y="3657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</a:rPr>
              <a:t>Split-Apply-Combine Pattern: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0720" y="39319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1. Split data into groups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2. Apply function to each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3. Combine results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Pandas: Merging &amp; Joining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30175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Concatenate vertically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df1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Concatenate horizontally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df1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   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axis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Inner join (default)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df1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'key'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Left join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df1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'key'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'left'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Join on index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df1.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6072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0458"/>
                </a:solidFill>
              </a:rPr>
              <a:t>Join Types: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60720" y="1691640"/>
            <a:ext cx="2926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0" y="17647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0458"/>
                </a:solidFill>
              </a:rPr>
              <a:t>inner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0" y="19659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Only matching keys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0" y="18745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</a:rPr>
              <a:t>Intersection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2331720"/>
            <a:ext cx="2926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2160" y="24048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0458"/>
                </a:solidFill>
              </a:rPr>
              <a:t>left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0" y="2606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All from left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89520" y="2514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</a:rPr>
              <a:t>Left + matches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2971800"/>
            <a:ext cx="2926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0" y="30449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0458"/>
                </a:solidFill>
              </a:rPr>
              <a:t>right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52160" y="32461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All from right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89520" y="31546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</a:rPr>
              <a:t>Right + matches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3611880"/>
            <a:ext cx="2926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0" y="36850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0458"/>
                </a:solidFill>
              </a:rPr>
              <a:t>outer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52160" y="38862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All from both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0" y="37947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</a:rPr>
              <a:t>Union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4023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285F4"/>
                </a:solidFill>
              </a:rPr>
              <a:t>Like SQL joins but easier!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</a:rPr>
              <a:t>Pandas: Handling Missing Data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30175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for missing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isnull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isna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  # </a:t>
            </a: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as </a:t>
            </a:r>
            <a:r>
              <a:rPr lang="en-US" sz="1200" dirty="0" err="1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isnull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Drop missing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dropna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 # </a:t>
            </a: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rows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dropna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axis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# </a:t>
            </a: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columns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Fill missing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# </a:t>
            </a: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 with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200" dirty="0" err="1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ffill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Fill with mean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200" dirty="0" err="1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Interpolate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interpolate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6072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0458"/>
                </a:solidFill>
              </a:rPr>
              <a:t>Fill Methods: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60720" y="1691640"/>
            <a:ext cx="2926080" cy="39319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0" y="173736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fillna(value)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0" y="1911096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Fill with specific value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0" y="2148840"/>
            <a:ext cx="2926080" cy="39319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52160" y="219456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ffill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2368296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Forward fill (propagate last)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2606040"/>
            <a:ext cx="2926080" cy="39319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52160" y="265176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bfill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0" y="2825496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Backward fill (propagate next)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3063240"/>
            <a:ext cx="2926080" cy="39319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310896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interpolate()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3282696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Linear interpolation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3520440"/>
            <a:ext cx="2926080" cy="39319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0" y="356616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fillna(mean())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3739896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Fill with column mean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0" y="3977640"/>
            <a:ext cx="2926080" cy="39319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52160" y="402336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0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fillna(median())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4197096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Fill with column median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</a:rPr>
              <a:t>NumPy vs Pandas: When to Use?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73152" cy="50292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Data Type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2743200" cy="320040"/>
          </a:xfrm>
          <a:prstGeom prst="rect">
            <a:avLst/>
          </a:prstGeom>
          <a:solidFill>
            <a:srgbClr val="0132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0" y="13898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Homogeneous arrays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0" y="1371600"/>
            <a:ext cx="2743200" cy="320040"/>
          </a:xfrm>
          <a:prstGeom prst="rect">
            <a:avLst/>
          </a:prstGeom>
          <a:solidFill>
            <a:srgbClr val="150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0" y="13898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Heterogeneous tables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73152" cy="5029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011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Structure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0" y="1965960"/>
            <a:ext cx="2743200" cy="320040"/>
          </a:xfrm>
          <a:prstGeom prst="rect">
            <a:avLst/>
          </a:prstGeom>
          <a:solidFill>
            <a:srgbClr val="0132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51760" y="19842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N-dimensional arrays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1965960"/>
            <a:ext cx="2743200" cy="320040"/>
          </a:xfrm>
          <a:prstGeom prst="rect">
            <a:avLst/>
          </a:prstGeom>
          <a:solidFill>
            <a:srgbClr val="150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60720" y="19842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Series &amp; DataFrames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73152" cy="502920"/>
          </a:xfrm>
          <a:prstGeom prst="rect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606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Indexing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560320" y="2560320"/>
            <a:ext cx="2743200" cy="320040"/>
          </a:xfrm>
          <a:prstGeom prst="rect">
            <a:avLst/>
          </a:prstGeom>
          <a:solidFill>
            <a:srgbClr val="0132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51760" y="25786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Integer-based only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2560320"/>
            <a:ext cx="2743200" cy="320040"/>
          </a:xfrm>
          <a:prstGeom prst="rect">
            <a:avLst/>
          </a:prstGeom>
          <a:solidFill>
            <a:srgbClr val="150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60720" y="25786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Labels + integers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3063240"/>
            <a:ext cx="73152" cy="502920"/>
          </a:xfrm>
          <a:prstGeom prst="rect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3200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Use Case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560320" y="3154680"/>
            <a:ext cx="2743200" cy="320040"/>
          </a:xfrm>
          <a:prstGeom prst="rect">
            <a:avLst/>
          </a:prstGeom>
          <a:solidFill>
            <a:srgbClr val="0132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651760" y="31729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Math &amp; scientific computing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0" y="3154680"/>
            <a:ext cx="2743200" cy="320040"/>
          </a:xfrm>
          <a:prstGeom prst="rect">
            <a:avLst/>
          </a:prstGeom>
          <a:solidFill>
            <a:srgbClr val="150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60720" y="31729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Data analysis &amp; manipulation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" y="3657600"/>
            <a:ext cx="73152" cy="502920"/>
          </a:xfrm>
          <a:prstGeom prst="rect">
            <a:avLst/>
          </a:prstGeom>
          <a:solidFill>
            <a:srgbClr val="9334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" y="3794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Performance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560320" y="3749040"/>
            <a:ext cx="2743200" cy="320040"/>
          </a:xfrm>
          <a:prstGeom prst="rect">
            <a:avLst/>
          </a:prstGeom>
          <a:solidFill>
            <a:srgbClr val="0132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651760" y="37673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Faster for numerical ops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0" y="3749040"/>
            <a:ext cx="2743200" cy="320040"/>
          </a:xfrm>
          <a:prstGeom prst="rect">
            <a:avLst/>
          </a:prstGeom>
          <a:solidFill>
            <a:srgbClr val="150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760720" y="37673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Better for data wrangling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7200" y="4251960"/>
            <a:ext cx="73152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0080" y="4389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Memory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560320" y="4343400"/>
            <a:ext cx="2743200" cy="320040"/>
          </a:xfrm>
          <a:prstGeom prst="rect">
            <a:avLst/>
          </a:prstGeom>
          <a:solidFill>
            <a:srgbClr val="0132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651760" y="4361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More efficient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669280" y="4343400"/>
            <a:ext cx="2743200" cy="320040"/>
          </a:xfrm>
          <a:prstGeom prst="rect">
            <a:avLst/>
          </a:prstGeom>
          <a:solidFill>
            <a:srgbClr val="150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760720" y="4361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More features, less efficient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28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Key Takeaways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2926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88720" y="15544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✓ NumPy: Use for numerical arrays and math operations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88720" y="1993392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✓ Pandas: Use for structured data analysis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2432304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✓ Both work together seamlessly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871216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✓ Start with Pandas for most data tasks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31012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✓ Drop to NumPy for performance-critical code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7490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✓ Practice with real datasets to master both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BBC04"/>
                </a:solidFill>
              </a:rPr>
              <a:t>Practice makes perfect - start coding today!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uiz Time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oji"/>
          <p:cNvSpPr/>
          <p:nvPr/>
        </p:nvSpPr>
        <p:spPr>
          <a:xfrm>
            <a:off x="457200" y="800000"/>
            <a:ext cx="8229600" cy="8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6000" b="0" dirty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1750000"/>
            <a:ext cx="8229600" cy="8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5400" b="1" dirty="0">
                <a:solidFill>
                  <a:srgbClr val="F4B942"/>
                </a:solidFill>
              </a:rPr>
              <a:t>Quick Quiz!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2650000"/>
            <a:ext cx="82296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2200" b="0" dirty="0">
                <a:solidFill>
                  <a:srgbClr val="AAAAAA"/>
                </a:solidFill>
              </a:rPr>
              <a:t>5 MCQs  |  NumPy &amp; Pandas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wrap="square" rtlCol="0" anchor="ctr"/>
          <a:lstStyle/>
          <a:p>
            <a:pPr marL="45720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Q1  |  NumPy – arange</a:t>
            </a:r>
          </a:p>
        </p:txBody>
      </p:sp>
      <p:sp>
        <p:nvSpPr>
          <p:cNvPr id="3" name="Question"/>
          <p:cNvSpPr/>
          <p:nvPr/>
        </p:nvSpPr>
        <p:spPr>
          <a:xfrm>
            <a:off x="457200" y="740000"/>
            <a:ext cx="8229600" cy="760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wrap="square" lIns="228600" tIns="114300" rIns="228600" bIns="11430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does np.arange(0, 10, 2) return?</a:t>
            </a:r>
          </a:p>
        </p:txBody>
      </p:sp>
      <p:sp>
        <p:nvSpPr>
          <p:cNvPr id="4" name="Options"/>
          <p:cNvSpPr/>
          <p:nvPr/>
        </p:nvSpPr>
        <p:spPr>
          <a:xfrm>
            <a:off x="457200" y="1600000"/>
            <a:ext cx="8229600" cy="29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</p:spPr>
        <p:txBody>
          <a:bodyPr wrap="square" lIns="342900" tIns="342900" rIns="342900" bIns="228600" rtlCol="0" anchor="t"/>
          <a:lstStyle/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A  </a:t>
            </a:r>
            <a:r>
              <a:rPr lang="en-US" sz="1900" b="0" dirty="0">
                <a:solidFill>
                  <a:srgbClr val="1A1A2E"/>
                </a:solidFill>
              </a:rPr>
              <a:t>[0, 2, 4, 6, 8]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B  </a:t>
            </a:r>
            <a:r>
              <a:rPr lang="en-US" sz="1900" b="0" dirty="0">
                <a:solidFill>
                  <a:srgbClr val="1A1A2E"/>
                </a:solidFill>
              </a:rPr>
              <a:t>[0, 2, 4, 6, 8, 10]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C  </a:t>
            </a:r>
            <a:r>
              <a:rPr lang="en-US" sz="1900" b="0" dirty="0">
                <a:solidFill>
                  <a:srgbClr val="1A1A2E"/>
                </a:solidFill>
              </a:rPr>
              <a:t>[2, 4, 6, 8, 10]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D  </a:t>
            </a:r>
            <a:r>
              <a:rPr lang="en-US" sz="1900" b="0" dirty="0">
                <a:solidFill>
                  <a:srgbClr val="1A1A2E"/>
                </a:solidFill>
              </a:rPr>
              <a:t>[0, 1, 2, 3, 4]</a:t>
            </a:r>
          </a:p>
        </p:txBody>
      </p:sp>
      <p:sp>
        <p:nvSpPr>
          <p:cNvPr id="5" name="Num"/>
          <p:cNvSpPr/>
          <p:nvPr/>
        </p:nvSpPr>
        <p:spPr>
          <a:xfrm>
            <a:off x="7772400" y="4571100"/>
            <a:ext cx="914400" cy="342900"/>
          </a:xfrm>
          <a:prstGeom prst="roundRect">
            <a:avLst>
              <a:gd name="adj" fmla="val 20000"/>
            </a:avLst>
          </a:prstGeom>
          <a:solidFill>
            <a:srgbClr val="4285F4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wrap="square" rtlCol="0" anchor="ctr"/>
          <a:lstStyle/>
          <a:p>
            <a:pPr marL="45720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✅ Answer Q1  |  Correct: A</a:t>
            </a:r>
          </a:p>
        </p:txBody>
      </p:sp>
      <p:sp>
        <p:nvSpPr>
          <p:cNvPr id="3" name="Question"/>
          <p:cNvSpPr/>
          <p:nvPr/>
        </p:nvSpPr>
        <p:spPr>
          <a:xfrm>
            <a:off x="457200" y="740000"/>
            <a:ext cx="8229600" cy="760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wrap="square" lIns="228600" tIns="114300" rIns="228600" bIns="11430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does np.arange(0, 10, 2) return?</a:t>
            </a:r>
          </a:p>
        </p:txBody>
      </p:sp>
      <p:sp>
        <p:nvSpPr>
          <p:cNvPr id="4" name="Options"/>
          <p:cNvSpPr/>
          <p:nvPr/>
        </p:nvSpPr>
        <p:spPr>
          <a:xfrm>
            <a:off x="457200" y="1600000"/>
            <a:ext cx="8229600" cy="20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34A853"/>
            </a:solidFill>
          </a:ln>
        </p:spPr>
        <p:txBody>
          <a:bodyPr wrap="square" lIns="342900" tIns="228600" rIns="342900" bIns="228600" rtlCol="0" anchor="t"/>
          <a:lstStyle/>
          <a:p>
            <a:pPr marL="228600" indent="-228600">
              <a:buNone/>
            </a:pPr>
            <a:r>
              <a:rPr lang="en-US" sz="1900" b="1" dirty="0">
                <a:solidFill>
                  <a:srgbClr val="FFFFFF"/>
                </a:solidFill>
              </a:rPr>
              <a:t>A  [0, 2, 4, 6, 8]  ✓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B  </a:t>
            </a:r>
            <a:r>
              <a:rPr lang="en-US" sz="1900" b="0" dirty="0">
                <a:solidFill>
                  <a:srgbClr val="888888"/>
                </a:solidFill>
              </a:rPr>
              <a:t>[0, 2, 4, 6, 8, 10]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C  </a:t>
            </a:r>
            <a:r>
              <a:rPr lang="en-US" sz="1900" b="0" dirty="0">
                <a:solidFill>
                  <a:srgbClr val="888888"/>
                </a:solidFill>
              </a:rPr>
              <a:t>[2, 4, 6, 8, 10]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D  </a:t>
            </a:r>
            <a:r>
              <a:rPr lang="en-US" sz="1900" b="0" dirty="0">
                <a:solidFill>
                  <a:srgbClr val="888888"/>
                </a:solidFill>
              </a:rPr>
              <a:t>[0, 1, 2, 3, 4]</a:t>
            </a:r>
          </a:p>
        </p:txBody>
      </p:sp>
      <p:sp>
        <p:nvSpPr>
          <p:cNvPr id="5" name="Explanation"/>
          <p:cNvSpPr/>
          <p:nvPr/>
        </p:nvSpPr>
        <p:spPr>
          <a:xfrm>
            <a:off x="457200" y="3720000"/>
            <a:ext cx="8229600" cy="800000"/>
          </a:xfrm>
          <a:prstGeom prst="rect">
            <a:avLst/>
          </a:prstGeom>
          <a:solidFill>
            <a:srgbClr val="D4EDDA"/>
          </a:solidFill>
          <a:ln w="25400">
            <a:solidFill>
              <a:srgbClr val="34A853"/>
            </a:solidFill>
          </a:ln>
        </p:spPr>
        <p:txBody>
          <a:bodyPr wrap="square" lIns="228600" tIns="114300" rIns="228600" bIns="1143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5724"/>
                </a:solidFill>
              </a:rPr>
              <a:t>📖 Why: </a:t>
            </a:r>
            <a:r>
              <a:rPr lang="en-US" sz="1600" b="0" dirty="0">
                <a:solidFill>
                  <a:srgbClr val="155724"/>
                </a:solidFill>
              </a:rPr>
              <a:t>arange(start, stop, step) — stop is exclusive, so 10 is not included. Step=2 gives even numbers starting from 0.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wrap="square" rtlCol="0" anchor="ctr"/>
          <a:lstStyle/>
          <a:p>
            <a:pPr marL="45720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Q2  |  NumPy – zeros / shape</a:t>
            </a:r>
          </a:p>
        </p:txBody>
      </p:sp>
      <p:sp>
        <p:nvSpPr>
          <p:cNvPr id="3" name="Question"/>
          <p:cNvSpPr/>
          <p:nvPr/>
        </p:nvSpPr>
        <p:spPr>
          <a:xfrm>
            <a:off x="457200" y="740000"/>
            <a:ext cx="8229600" cy="760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wrap="square" lIns="228600" tIns="114300" rIns="228600" bIns="11430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np.zeros((3, 4)) creates an array of shape __?</a:t>
            </a:r>
          </a:p>
        </p:txBody>
      </p:sp>
      <p:sp>
        <p:nvSpPr>
          <p:cNvPr id="4" name="Options"/>
          <p:cNvSpPr/>
          <p:nvPr/>
        </p:nvSpPr>
        <p:spPr>
          <a:xfrm>
            <a:off x="457200" y="1600000"/>
            <a:ext cx="8229600" cy="29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</p:spPr>
        <p:txBody>
          <a:bodyPr wrap="square" lIns="342900" tIns="342900" rIns="342900" bIns="228600" rtlCol="0" anchor="t"/>
          <a:lstStyle/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A  </a:t>
            </a:r>
            <a:r>
              <a:rPr lang="en-US" sz="1900" b="0" dirty="0">
                <a:solidFill>
                  <a:srgbClr val="1A1A2E"/>
                </a:solidFill>
              </a:rPr>
              <a:t>4 rows, 3 cols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B  </a:t>
            </a:r>
            <a:r>
              <a:rPr lang="en-US" sz="1900" b="0" dirty="0">
                <a:solidFill>
                  <a:srgbClr val="1A1A2E"/>
                </a:solidFill>
              </a:rPr>
              <a:t>3 rows, 4 cols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C  </a:t>
            </a:r>
            <a:r>
              <a:rPr lang="en-US" sz="1900" b="0" dirty="0">
                <a:solidFill>
                  <a:srgbClr val="1A1A2E"/>
                </a:solidFill>
              </a:rPr>
              <a:t>12 elements, 1D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D  </a:t>
            </a:r>
            <a:r>
              <a:rPr lang="en-US" sz="1900" b="0" dirty="0">
                <a:solidFill>
                  <a:srgbClr val="1A1A2E"/>
                </a:solidFill>
              </a:rPr>
              <a:t>3 x 3 square</a:t>
            </a:r>
          </a:p>
        </p:txBody>
      </p:sp>
      <p:sp>
        <p:nvSpPr>
          <p:cNvPr id="5" name="Num"/>
          <p:cNvSpPr/>
          <p:nvPr/>
        </p:nvSpPr>
        <p:spPr>
          <a:xfrm>
            <a:off x="7772400" y="4571100"/>
            <a:ext cx="914400" cy="342900"/>
          </a:xfrm>
          <a:prstGeom prst="roundRect">
            <a:avLst>
              <a:gd name="adj" fmla="val 20000"/>
            </a:avLst>
          </a:prstGeom>
          <a:solidFill>
            <a:srgbClr val="4285F4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wrap="square" rtlCol="0" anchor="ctr"/>
          <a:lstStyle/>
          <a:p>
            <a:pPr marL="45720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✅ Answer Q2  |  Correct: B</a:t>
            </a:r>
          </a:p>
        </p:txBody>
      </p:sp>
      <p:sp>
        <p:nvSpPr>
          <p:cNvPr id="3" name="Question"/>
          <p:cNvSpPr/>
          <p:nvPr/>
        </p:nvSpPr>
        <p:spPr>
          <a:xfrm>
            <a:off x="457200" y="740000"/>
            <a:ext cx="8229600" cy="760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wrap="square" lIns="228600" tIns="114300" rIns="228600" bIns="11430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np.zeros((3, 4)) creates an array of shape __?</a:t>
            </a:r>
          </a:p>
        </p:txBody>
      </p:sp>
      <p:sp>
        <p:nvSpPr>
          <p:cNvPr id="4" name="Options"/>
          <p:cNvSpPr/>
          <p:nvPr/>
        </p:nvSpPr>
        <p:spPr>
          <a:xfrm>
            <a:off x="457200" y="1600000"/>
            <a:ext cx="8229600" cy="20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34A853"/>
            </a:solidFill>
          </a:ln>
        </p:spPr>
        <p:txBody>
          <a:bodyPr wrap="square" lIns="342900" tIns="228600" rIns="342900" bIns="228600" rtlCol="0" anchor="t"/>
          <a:lstStyle/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A  </a:t>
            </a:r>
            <a:r>
              <a:rPr lang="en-US" sz="1900" b="0" dirty="0">
                <a:solidFill>
                  <a:srgbClr val="888888"/>
                </a:solidFill>
              </a:rPr>
              <a:t>4 rows, 3 cols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FFFFFF"/>
                </a:solidFill>
              </a:rPr>
              <a:t>B  3 rows, 4 cols  ✓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C  </a:t>
            </a:r>
            <a:r>
              <a:rPr lang="en-US" sz="1900" b="0" dirty="0">
                <a:solidFill>
                  <a:srgbClr val="888888"/>
                </a:solidFill>
              </a:rPr>
              <a:t>12 elements, 1D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D  </a:t>
            </a:r>
            <a:r>
              <a:rPr lang="en-US" sz="1900" b="0" dirty="0">
                <a:solidFill>
                  <a:srgbClr val="888888"/>
                </a:solidFill>
              </a:rPr>
              <a:t>3 x 3 square</a:t>
            </a:r>
          </a:p>
        </p:txBody>
      </p:sp>
      <p:sp>
        <p:nvSpPr>
          <p:cNvPr id="5" name="Explanation"/>
          <p:cNvSpPr/>
          <p:nvPr/>
        </p:nvSpPr>
        <p:spPr>
          <a:xfrm>
            <a:off x="457200" y="3720000"/>
            <a:ext cx="8229600" cy="800000"/>
          </a:xfrm>
          <a:prstGeom prst="rect">
            <a:avLst/>
          </a:prstGeom>
          <a:solidFill>
            <a:srgbClr val="D4EDDA"/>
          </a:solidFill>
          <a:ln w="25400">
            <a:solidFill>
              <a:srgbClr val="34A853"/>
            </a:solidFill>
          </a:ln>
        </p:spPr>
        <p:txBody>
          <a:bodyPr wrap="square" lIns="228600" tIns="114300" rIns="228600" bIns="1143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5724"/>
                </a:solidFill>
              </a:rPr>
              <a:t>📖 Why: </a:t>
            </a:r>
            <a:r>
              <a:rPr lang="en-US" sz="1600" b="0" dirty="0">
                <a:solidFill>
                  <a:srgbClr val="155724"/>
                </a:solidFill>
              </a:rPr>
              <a:t>The tuple (3, 4) means 3 rows and 4 columns. First value = rows, second = columns.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wrap="square" rtlCol="0" anchor="ctr"/>
          <a:lstStyle/>
          <a:p>
            <a:pPr marL="45720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Q5  |  NumPy – Statistics</a:t>
            </a:r>
          </a:p>
        </p:txBody>
      </p:sp>
      <p:sp>
        <p:nvSpPr>
          <p:cNvPr id="3" name="Question"/>
          <p:cNvSpPr/>
          <p:nvPr/>
        </p:nvSpPr>
        <p:spPr>
          <a:xfrm>
            <a:off x="457200" y="740000"/>
            <a:ext cx="8229600" cy="760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wrap="square" lIns="228600" tIns="114300" rIns="228600" bIns="11430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the output of arr.mean() if arr = np.array([2, 4, 6, 8])?</a:t>
            </a:r>
          </a:p>
        </p:txBody>
      </p:sp>
      <p:sp>
        <p:nvSpPr>
          <p:cNvPr id="4" name="Options"/>
          <p:cNvSpPr/>
          <p:nvPr/>
        </p:nvSpPr>
        <p:spPr>
          <a:xfrm>
            <a:off x="457200" y="1600000"/>
            <a:ext cx="8229600" cy="29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</p:spPr>
        <p:txBody>
          <a:bodyPr wrap="square" lIns="342900" tIns="342900" rIns="342900" bIns="228600" rtlCol="0" anchor="t"/>
          <a:lstStyle/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A  </a:t>
            </a:r>
            <a:r>
              <a:rPr lang="en-US" sz="1900" b="0" dirty="0">
                <a:solidFill>
                  <a:srgbClr val="1A1A2E"/>
                </a:solidFill>
              </a:rPr>
              <a:t>4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B  </a:t>
            </a:r>
            <a:r>
              <a:rPr lang="en-US" sz="1900" b="0" dirty="0">
                <a:solidFill>
                  <a:srgbClr val="1A1A2E"/>
                </a:solidFill>
              </a:rPr>
              <a:t>20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C  </a:t>
            </a:r>
            <a:r>
              <a:rPr lang="en-US" sz="1900" b="0" dirty="0">
                <a:solidFill>
                  <a:srgbClr val="1A1A2E"/>
                </a:solidFill>
              </a:rPr>
              <a:t>5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D  </a:t>
            </a:r>
            <a:r>
              <a:rPr lang="en-US" sz="1900" b="0" dirty="0">
                <a:solidFill>
                  <a:srgbClr val="1A1A2E"/>
                </a:solidFill>
              </a:rPr>
              <a:t>4.5</a:t>
            </a:r>
          </a:p>
        </p:txBody>
      </p:sp>
      <p:sp>
        <p:nvSpPr>
          <p:cNvPr id="5" name="Num"/>
          <p:cNvSpPr/>
          <p:nvPr/>
        </p:nvSpPr>
        <p:spPr>
          <a:xfrm>
            <a:off x="7772400" y="4571100"/>
            <a:ext cx="914400" cy="342900"/>
          </a:xfrm>
          <a:prstGeom prst="roundRect">
            <a:avLst>
              <a:gd name="adj" fmla="val 20000"/>
            </a:avLst>
          </a:prstGeom>
          <a:solidFill>
            <a:srgbClr val="4285F4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wrap="square" rtlCol="0" anchor="ctr"/>
          <a:lstStyle/>
          <a:p>
            <a:pPr marL="45720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✅ Answer Q5  |  Correct: C</a:t>
            </a:r>
          </a:p>
        </p:txBody>
      </p:sp>
      <p:sp>
        <p:nvSpPr>
          <p:cNvPr id="3" name="Question"/>
          <p:cNvSpPr/>
          <p:nvPr/>
        </p:nvSpPr>
        <p:spPr>
          <a:xfrm>
            <a:off x="457200" y="740000"/>
            <a:ext cx="8229600" cy="760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wrap="square" lIns="228600" tIns="114300" rIns="228600" bIns="11430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the output of arr.mean() if arr = np.array([2, 4, 6, 8])?</a:t>
            </a:r>
          </a:p>
        </p:txBody>
      </p:sp>
      <p:sp>
        <p:nvSpPr>
          <p:cNvPr id="4" name="Options"/>
          <p:cNvSpPr/>
          <p:nvPr/>
        </p:nvSpPr>
        <p:spPr>
          <a:xfrm>
            <a:off x="457200" y="1600000"/>
            <a:ext cx="8229600" cy="20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34A853"/>
            </a:solidFill>
          </a:ln>
        </p:spPr>
        <p:txBody>
          <a:bodyPr wrap="square" lIns="342900" tIns="228600" rIns="342900" bIns="228600" rtlCol="0" anchor="t"/>
          <a:lstStyle/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A  </a:t>
            </a:r>
            <a:r>
              <a:rPr lang="en-US" sz="1900" b="0" dirty="0">
                <a:solidFill>
                  <a:srgbClr val="888888"/>
                </a:solidFill>
              </a:rPr>
              <a:t>4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B  </a:t>
            </a:r>
            <a:r>
              <a:rPr lang="en-US" sz="1900" b="0" dirty="0">
                <a:solidFill>
                  <a:srgbClr val="888888"/>
                </a:solidFill>
              </a:rPr>
              <a:t>20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FFFFFF"/>
                </a:solidFill>
              </a:rPr>
              <a:t>C  5  ✓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D  </a:t>
            </a:r>
            <a:r>
              <a:rPr lang="en-US" sz="1900" b="0" dirty="0">
                <a:solidFill>
                  <a:srgbClr val="888888"/>
                </a:solidFill>
              </a:rPr>
              <a:t>4.5</a:t>
            </a:r>
          </a:p>
        </p:txBody>
      </p:sp>
      <p:sp>
        <p:nvSpPr>
          <p:cNvPr id="5" name="Explanation"/>
          <p:cNvSpPr/>
          <p:nvPr/>
        </p:nvSpPr>
        <p:spPr>
          <a:xfrm>
            <a:off x="457200" y="3720000"/>
            <a:ext cx="8229600" cy="800000"/>
          </a:xfrm>
          <a:prstGeom prst="rect">
            <a:avLst/>
          </a:prstGeom>
          <a:solidFill>
            <a:srgbClr val="D4EDDA"/>
          </a:solidFill>
          <a:ln w="25400">
            <a:solidFill>
              <a:srgbClr val="34A853"/>
            </a:solidFill>
          </a:ln>
        </p:spPr>
        <p:txBody>
          <a:bodyPr wrap="square" lIns="228600" tIns="114300" rIns="228600" bIns="1143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5724"/>
                </a:solidFill>
              </a:rPr>
              <a:t>📖 Why: </a:t>
            </a:r>
            <a:r>
              <a:rPr lang="en-US" sz="1600" b="0" dirty="0">
                <a:solidFill>
                  <a:srgbClr val="155724"/>
                </a:solidFill>
              </a:rPr>
              <a:t>Mean = (2+4+6+8) / 4 = 20 / 4 = 5.0. .sum() would give 20, not mean.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wrap="square" rtlCol="0" anchor="ctr"/>
          <a:lstStyle/>
          <a:p>
            <a:pPr marL="45720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Q3  |  Pandas – indexing</a:t>
            </a:r>
          </a:p>
        </p:txBody>
      </p:sp>
      <p:sp>
        <p:nvSpPr>
          <p:cNvPr id="3" name="Question"/>
          <p:cNvSpPr/>
          <p:nvPr/>
        </p:nvSpPr>
        <p:spPr>
          <a:xfrm>
            <a:off x="457200" y="740000"/>
            <a:ext cx="8229600" cy="760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wrap="square" lIns="228600" tIns="114300" rIns="228600" bIns="11430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Which method selects rows by label in a Pandas DataFrame?</a:t>
            </a:r>
          </a:p>
        </p:txBody>
      </p:sp>
      <p:sp>
        <p:nvSpPr>
          <p:cNvPr id="4" name="Options"/>
          <p:cNvSpPr/>
          <p:nvPr/>
        </p:nvSpPr>
        <p:spPr>
          <a:xfrm>
            <a:off x="457200" y="1600000"/>
            <a:ext cx="8229600" cy="29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</p:spPr>
        <p:txBody>
          <a:bodyPr wrap="square" lIns="342900" tIns="342900" rIns="342900" bIns="228600" rtlCol="0" anchor="t"/>
          <a:lstStyle/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A  </a:t>
            </a:r>
            <a:r>
              <a:rPr lang="en-US" sz="1900" b="0" dirty="0">
                <a:solidFill>
                  <a:srgbClr val="1A1A2E"/>
                </a:solidFill>
              </a:rPr>
              <a:t>.iloc[]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B  </a:t>
            </a:r>
            <a:r>
              <a:rPr lang="en-US" sz="1900" b="0" dirty="0">
                <a:solidFill>
                  <a:srgbClr val="1A1A2E"/>
                </a:solidFill>
              </a:rPr>
              <a:t>.ix[]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C  </a:t>
            </a:r>
            <a:r>
              <a:rPr lang="en-US" sz="1900" b="0" dirty="0">
                <a:solidFill>
                  <a:srgbClr val="1A1A2E"/>
                </a:solidFill>
              </a:rPr>
              <a:t>.loc[]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D  </a:t>
            </a:r>
            <a:r>
              <a:rPr lang="en-US" sz="1900" b="0" dirty="0">
                <a:solidFill>
                  <a:srgbClr val="1A1A2E"/>
                </a:solidFill>
              </a:rPr>
              <a:t>.at[]</a:t>
            </a:r>
          </a:p>
        </p:txBody>
      </p:sp>
      <p:sp>
        <p:nvSpPr>
          <p:cNvPr id="5" name="Num"/>
          <p:cNvSpPr/>
          <p:nvPr/>
        </p:nvSpPr>
        <p:spPr>
          <a:xfrm>
            <a:off x="7772400" y="4571100"/>
            <a:ext cx="914400" cy="342900"/>
          </a:xfrm>
          <a:prstGeom prst="roundRect">
            <a:avLst>
              <a:gd name="adj" fmla="val 20000"/>
            </a:avLst>
          </a:prstGeom>
          <a:solidFill>
            <a:srgbClr val="4285F4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wrap="square" rtlCol="0" anchor="ctr"/>
          <a:lstStyle/>
          <a:p>
            <a:pPr marL="45720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✅ Answer Q3  |  Correct: C</a:t>
            </a:r>
          </a:p>
        </p:txBody>
      </p:sp>
      <p:sp>
        <p:nvSpPr>
          <p:cNvPr id="3" name="Question"/>
          <p:cNvSpPr/>
          <p:nvPr/>
        </p:nvSpPr>
        <p:spPr>
          <a:xfrm>
            <a:off x="457200" y="740000"/>
            <a:ext cx="8229600" cy="760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wrap="square" lIns="228600" tIns="114300" rIns="228600" bIns="11430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Which method selects rows by label in a Pandas DataFrame?</a:t>
            </a:r>
          </a:p>
        </p:txBody>
      </p:sp>
      <p:sp>
        <p:nvSpPr>
          <p:cNvPr id="4" name="Options"/>
          <p:cNvSpPr/>
          <p:nvPr/>
        </p:nvSpPr>
        <p:spPr>
          <a:xfrm>
            <a:off x="457200" y="1600000"/>
            <a:ext cx="8229600" cy="20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34A853"/>
            </a:solidFill>
          </a:ln>
        </p:spPr>
        <p:txBody>
          <a:bodyPr wrap="square" lIns="342900" tIns="228600" rIns="342900" bIns="228600" rtlCol="0" anchor="t"/>
          <a:lstStyle/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A  </a:t>
            </a:r>
            <a:r>
              <a:rPr lang="en-US" sz="1900" b="0" dirty="0">
                <a:solidFill>
                  <a:srgbClr val="888888"/>
                </a:solidFill>
              </a:rPr>
              <a:t>.iloc[]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B  </a:t>
            </a:r>
            <a:r>
              <a:rPr lang="en-US" sz="1900" b="0" dirty="0">
                <a:solidFill>
                  <a:srgbClr val="888888"/>
                </a:solidFill>
              </a:rPr>
              <a:t>.ix[]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FFFFFF"/>
                </a:solidFill>
              </a:rPr>
              <a:t>C  .loc[]  ✓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D  </a:t>
            </a:r>
            <a:r>
              <a:rPr lang="en-US" sz="1900" b="0" dirty="0">
                <a:solidFill>
                  <a:srgbClr val="888888"/>
                </a:solidFill>
              </a:rPr>
              <a:t>.at[]</a:t>
            </a:r>
          </a:p>
        </p:txBody>
      </p:sp>
      <p:sp>
        <p:nvSpPr>
          <p:cNvPr id="5" name="Explanation"/>
          <p:cNvSpPr/>
          <p:nvPr/>
        </p:nvSpPr>
        <p:spPr>
          <a:xfrm>
            <a:off x="457200" y="3720000"/>
            <a:ext cx="8229600" cy="800000"/>
          </a:xfrm>
          <a:prstGeom prst="rect">
            <a:avLst/>
          </a:prstGeom>
          <a:solidFill>
            <a:srgbClr val="D4EDDA"/>
          </a:solidFill>
          <a:ln w="25400">
            <a:solidFill>
              <a:srgbClr val="34A853"/>
            </a:solidFill>
          </a:ln>
        </p:spPr>
        <p:txBody>
          <a:bodyPr wrap="square" lIns="228600" tIns="114300" rIns="228600" bIns="1143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5724"/>
                </a:solidFill>
              </a:rPr>
              <a:t>📖 Why: </a:t>
            </a:r>
            <a:r>
              <a:rPr lang="en-US" sz="1600" b="0" dirty="0">
                <a:solidFill>
                  <a:srgbClr val="155724"/>
                </a:solidFill>
              </a:rPr>
              <a:t>.loc[] is label-based. .iloc[] is position-based. .ix[] is deprecated. .at[] is for a single value by label.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wrap="square" rtlCol="0" anchor="ctr"/>
          <a:lstStyle/>
          <a:p>
            <a:pPr marL="45720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Q4  |  Pandas – Missing Data</a:t>
            </a:r>
          </a:p>
        </p:txBody>
      </p:sp>
      <p:sp>
        <p:nvSpPr>
          <p:cNvPr id="3" name="Question"/>
          <p:cNvSpPr/>
          <p:nvPr/>
        </p:nvSpPr>
        <p:spPr>
          <a:xfrm>
            <a:off x="457200" y="740000"/>
            <a:ext cx="8229600" cy="760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wrap="square" lIns="228600" tIns="114300" rIns="228600" bIns="11430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Which Pandas method fills missing (NaN) values with a fixed value?</a:t>
            </a:r>
          </a:p>
        </p:txBody>
      </p:sp>
      <p:sp>
        <p:nvSpPr>
          <p:cNvPr id="4" name="Options"/>
          <p:cNvSpPr/>
          <p:nvPr/>
        </p:nvSpPr>
        <p:spPr>
          <a:xfrm>
            <a:off x="457200" y="1600000"/>
            <a:ext cx="8229600" cy="29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</p:spPr>
        <p:txBody>
          <a:bodyPr wrap="square" lIns="342900" tIns="342900" rIns="342900" bIns="228600" rtlCol="0" anchor="t"/>
          <a:lstStyle/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A  </a:t>
            </a:r>
            <a:r>
              <a:rPr lang="en-US" sz="1900" b="0" dirty="0">
                <a:solidFill>
                  <a:srgbClr val="1A1A2E"/>
                </a:solidFill>
              </a:rPr>
              <a:t>.dropna()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B  </a:t>
            </a:r>
            <a:r>
              <a:rPr lang="en-US" sz="1900" b="0" dirty="0">
                <a:solidFill>
                  <a:srgbClr val="1A1A2E"/>
                </a:solidFill>
              </a:rPr>
              <a:t>.fillna()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C  </a:t>
            </a:r>
            <a:r>
              <a:rPr lang="en-US" sz="1900" b="0" dirty="0">
                <a:solidFill>
                  <a:srgbClr val="1A1A2E"/>
                </a:solidFill>
              </a:rPr>
              <a:t>.isna()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D  </a:t>
            </a:r>
            <a:r>
              <a:rPr lang="en-US" sz="1900" b="0" dirty="0">
                <a:solidFill>
                  <a:srgbClr val="1A1A2E"/>
                </a:solidFill>
              </a:rPr>
              <a:t>.replace()</a:t>
            </a:r>
          </a:p>
        </p:txBody>
      </p:sp>
      <p:sp>
        <p:nvSpPr>
          <p:cNvPr id="5" name="Num"/>
          <p:cNvSpPr/>
          <p:nvPr/>
        </p:nvSpPr>
        <p:spPr>
          <a:xfrm>
            <a:off x="7772400" y="4571100"/>
            <a:ext cx="914400" cy="342900"/>
          </a:xfrm>
          <a:prstGeom prst="roundRect">
            <a:avLst>
              <a:gd name="adj" fmla="val 20000"/>
            </a:avLst>
          </a:prstGeom>
          <a:solidFill>
            <a:srgbClr val="4285F4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wrap="square" rtlCol="0" anchor="ctr"/>
          <a:lstStyle/>
          <a:p>
            <a:pPr marL="45720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✅ Answer Q4  |  Correct: B</a:t>
            </a:r>
          </a:p>
        </p:txBody>
      </p:sp>
      <p:sp>
        <p:nvSpPr>
          <p:cNvPr id="3" name="Question"/>
          <p:cNvSpPr/>
          <p:nvPr/>
        </p:nvSpPr>
        <p:spPr>
          <a:xfrm>
            <a:off x="457200" y="740000"/>
            <a:ext cx="8229600" cy="760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txBody>
          <a:bodyPr wrap="square" lIns="228600" tIns="114300" rIns="228600" bIns="11430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Which Pandas method fills missing (NaN) values with a fixed value?</a:t>
            </a:r>
          </a:p>
        </p:txBody>
      </p:sp>
      <p:sp>
        <p:nvSpPr>
          <p:cNvPr id="4" name="Options"/>
          <p:cNvSpPr/>
          <p:nvPr/>
        </p:nvSpPr>
        <p:spPr>
          <a:xfrm>
            <a:off x="457200" y="1600000"/>
            <a:ext cx="8229600" cy="20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34A853"/>
            </a:solidFill>
          </a:ln>
        </p:spPr>
        <p:txBody>
          <a:bodyPr wrap="square" lIns="342900" tIns="228600" rIns="342900" bIns="228600" rtlCol="0" anchor="t"/>
          <a:lstStyle/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A  </a:t>
            </a:r>
            <a:r>
              <a:rPr lang="en-US" sz="1900" b="0" dirty="0">
                <a:solidFill>
                  <a:srgbClr val="888888"/>
                </a:solidFill>
              </a:rPr>
              <a:t>.dropna()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FFFFFF"/>
                </a:solidFill>
              </a:rPr>
              <a:t>B  .fillna()  ✓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C  </a:t>
            </a:r>
            <a:r>
              <a:rPr lang="en-US" sz="1900" b="0" dirty="0">
                <a:solidFill>
                  <a:srgbClr val="888888"/>
                </a:solidFill>
              </a:rPr>
              <a:t>.isna()</a:t>
            </a:r>
          </a:p>
          <a:p>
            <a:pPr marL="228600" indent="-228600">
              <a:buNone/>
            </a:pPr>
            <a:r>
              <a:rPr lang="en-US" sz="1900" b="1" dirty="0">
                <a:solidFill>
                  <a:srgbClr val="4285F4"/>
                </a:solidFill>
              </a:rPr>
              <a:t>D  </a:t>
            </a:r>
            <a:r>
              <a:rPr lang="en-US" sz="1900" b="0" dirty="0">
                <a:solidFill>
                  <a:srgbClr val="888888"/>
                </a:solidFill>
              </a:rPr>
              <a:t>.replace()</a:t>
            </a:r>
          </a:p>
        </p:txBody>
      </p:sp>
      <p:sp>
        <p:nvSpPr>
          <p:cNvPr id="5" name="Explanation"/>
          <p:cNvSpPr/>
          <p:nvPr/>
        </p:nvSpPr>
        <p:spPr>
          <a:xfrm>
            <a:off x="457200" y="3720000"/>
            <a:ext cx="8229600" cy="800000"/>
          </a:xfrm>
          <a:prstGeom prst="rect">
            <a:avLst/>
          </a:prstGeom>
          <a:solidFill>
            <a:srgbClr val="D4EDDA"/>
          </a:solidFill>
          <a:ln w="25400">
            <a:solidFill>
              <a:srgbClr val="34A853"/>
            </a:solidFill>
          </a:ln>
        </p:spPr>
        <p:txBody>
          <a:bodyPr wrap="square" lIns="228600" tIns="114300" rIns="228600" bIns="1143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5724"/>
                </a:solidFill>
              </a:rPr>
              <a:t>📖 Why: </a:t>
            </a:r>
            <a:r>
              <a:rPr lang="en-US" sz="1600" b="0" dirty="0">
                <a:solidFill>
                  <a:srgbClr val="155724"/>
                </a:solidFill>
              </a:rPr>
              <a:t>.fillna(value) fills NaN with the given value. .dropna() removes rows. .isna() detects NaN (returns True/False).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2457</Words>
  <Application>Microsoft Office PowerPoint</Application>
  <PresentationFormat>On-screen Show (16:9)</PresentationFormat>
  <Paragraphs>502</Paragraphs>
  <Slides>29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 &amp; Pandas - Data Analysis Libraries</dc:title>
  <dc:subject>PptxGenJS Presentation</dc:subject>
  <dc:creator>Google Developers Group</dc:creator>
  <cp:lastModifiedBy>Danyal Goraya</cp:lastModifiedBy>
  <cp:revision>6</cp:revision>
  <dcterms:created xsi:type="dcterms:W3CDTF">2026-03-08T11:01:43Z</dcterms:created>
  <dcterms:modified xsi:type="dcterms:W3CDTF">2026-03-12T09:21:05Z</dcterms:modified>
</cp:coreProperties>
</file>